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Urbanist SemiBold"/>
      <p:regular r:id="rId16"/>
      <p:bold r:id="rId17"/>
      <p:italic r:id="rId18"/>
      <p:boldItalic r:id="rId19"/>
    </p:embeddedFont>
    <p:embeddedFont>
      <p:font typeface="Urbanist Medium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BAC158-317E-4D87-98CF-88D778702FC5}">
  <a:tblStyle styleId="{23BAC158-317E-4D87-98CF-88D778702FC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UrbanistSemiBold-bold.fntdata"/><Relationship Id="rId16" Type="http://schemas.openxmlformats.org/officeDocument/2006/relationships/font" Target="fonts/UrbanistSemiBold-regular.fntdata"/><Relationship Id="rId19" Type="http://schemas.openxmlformats.org/officeDocument/2006/relationships/font" Target="fonts/UrbanistSemiBold-boldItalic.fntdata"/><Relationship Id="rId18" Type="http://schemas.openxmlformats.org/officeDocument/2006/relationships/font" Target="fonts/Urbanis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11" Type="http://schemas.openxmlformats.org/officeDocument/2006/relationships/image" Target="../media/image14.png"/><Relationship Id="rId10" Type="http://schemas.openxmlformats.org/officeDocument/2006/relationships/image" Target="../media/image15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2.jp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0" y="106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18568"/>
            <a:ext cx="116016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Ethical Hacking: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Penetration Testing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912840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Satyam Tiwari (1024030088)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73760"/>
            <a:ext cx="11049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ELC 2526 EVENSEM</a:t>
            </a:r>
            <a:endParaRPr b="0" i="0" sz="180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Thapar Institute of Engineering &amp; Technology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4"/>
          <p:cNvGraphicFramePr/>
          <p:nvPr/>
        </p:nvGraphicFramePr>
        <p:xfrm>
          <a:off x="571500" y="2322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{23BAC158-317E-4D87-98CF-88D778702FC5}</a:tableStyleId>
              </a:tblPr>
              <a:tblGrid>
                <a:gridCol w="1371600"/>
                <a:gridCol w="1579500"/>
                <a:gridCol w="2287625"/>
              </a:tblGrid>
              <a:tr h="7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0000"/>
                          </a:solidFill>
                          <a:highlight>
                            <a:srgbClr val="DEFF9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Parameter</a:t>
                      </a:r>
                      <a:endParaRPr b="1" sz="1600">
                        <a:solidFill>
                          <a:srgbClr val="000000"/>
                        </a:solidFill>
                        <a:highlight>
                          <a:srgbClr val="DEFF9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0000"/>
                          </a:solidFill>
                          <a:highlight>
                            <a:srgbClr val="DEFF9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Attacker (Kali)</a:t>
                      </a:r>
                      <a:endParaRPr b="1" sz="1600">
                        <a:solidFill>
                          <a:srgbClr val="000000"/>
                        </a:solidFill>
                        <a:highlight>
                          <a:srgbClr val="DEFF9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0000"/>
                          </a:solidFill>
                          <a:highlight>
                            <a:srgbClr val="DEFF9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Victim (Metasploitable)</a:t>
                      </a:r>
                      <a:endParaRPr b="1" sz="1600">
                        <a:solidFill>
                          <a:srgbClr val="000000"/>
                        </a:solidFill>
                        <a:highlight>
                          <a:srgbClr val="DEFF9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7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IP Address</a:t>
                      </a:r>
                      <a:endParaRPr b="0" sz="14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192.168.56.101</a:t>
                      </a:r>
                      <a:endParaRPr b="0" sz="14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192.168.56.103</a:t>
                      </a:r>
                      <a:endParaRPr b="0" sz="14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DAFFDE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RAM / CPU</a:t>
                      </a:r>
                      <a:endParaRPr b="0" sz="1400">
                        <a:solidFill>
                          <a:srgbClr val="DAFFDE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DAFFDE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4096 MB / 2</a:t>
                      </a:r>
                      <a:endParaRPr b="0" sz="1400">
                        <a:solidFill>
                          <a:srgbClr val="DAFFDE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DAFFDE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512 MB / 1</a:t>
                      </a:r>
                      <a:endParaRPr b="0" sz="1400">
                        <a:solidFill>
                          <a:srgbClr val="DAFFDE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Network</a:t>
                      </a:r>
                      <a:endParaRPr b="0" sz="14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Host-only</a:t>
                      </a:r>
                      <a:endParaRPr b="0" sz="14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Host-only</a:t>
                      </a:r>
                      <a:endParaRPr b="0" sz="14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descr="A high-quality, professional 3D render of the Oracle VirtualBox logo with a sleek Linux penguin mascot standing next to it, set against a dark, futuristic cybersecurity background with faint digital hex codes and glowing green network lines.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5334" r="5325" t="0"/>
          <a:stretch/>
        </p:blipFill>
        <p:spPr>
          <a:xfrm>
            <a:off x="6477000" y="2286000"/>
            <a:ext cx="5143500" cy="3238500"/>
          </a:xfrm>
          <a:prstGeom prst="roundRect">
            <a:avLst>
              <a:gd fmla="val 5882" name="adj"/>
            </a:avLst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Lab Environment &amp; Infrastructure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5"/>
          <p:cNvGrpSpPr/>
          <p:nvPr/>
        </p:nvGrpSpPr>
        <p:grpSpPr>
          <a:xfrm>
            <a:off x="6372225" y="1323975"/>
            <a:ext cx="5257800" cy="5067300"/>
            <a:chOff x="-9525" y="-9525"/>
            <a:chExt cx="5257800" cy="5067300"/>
          </a:xfrm>
        </p:grpSpPr>
        <p:pic>
          <p:nvPicPr>
            <p:cNvPr descr="A high-tech, futuristic digital network map visualization. Glowing neon green nodes represent servers and workstations connected by pulsating data lines. The background is dark and sleek, with a faint digital grid and hex code patterns, suggesting a cybersecurity reconnaissance interface." id="102" name="Google Shape;102;p15"/>
            <p:cNvPicPr preferRelativeResize="0"/>
            <p:nvPr/>
          </p:nvPicPr>
          <p:blipFill rotWithShape="1">
            <a:blip r:embed="rId4">
              <a:alphaModFix/>
            </a:blip>
            <a:srcRect b="1812" l="0" r="0" t="1821"/>
            <a:stretch/>
          </p:blipFill>
          <p:spPr>
            <a:xfrm>
              <a:off x="0" y="0"/>
              <a:ext cx="5238900" cy="5048400"/>
            </a:xfrm>
            <a:prstGeom prst="roundRect">
              <a:avLst>
                <a:gd fmla="val 3773" name="adj"/>
              </a:avLst>
            </a:prstGeom>
            <a:noFill/>
            <a:ln>
              <a:noFill/>
            </a:ln>
          </p:spPr>
        </p:pic>
        <p:pic>
          <p:nvPicPr>
            <p:cNvPr id="103" name="Google Shape;103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9525" y="-9525"/>
              <a:ext cx="5257800" cy="5067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79216"/>
            <a:ext cx="523875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1359991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Network Sweep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1579066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 initial ping sweep was conducted using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Nmap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 verify network connectivity and identify active targets within the subnet.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3064966"/>
            <a:ext cx="466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nmap -sn 192.168.56.0/24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3941266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Confirmed Victim active at .103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4484191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Subnet block mapped successfully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7936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22291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426541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1.1 Reconnaissance: Host Discovery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16"/>
          <p:cNvGraphicFramePr/>
          <p:nvPr/>
        </p:nvGraphicFramePr>
        <p:xfrm>
          <a:off x="571500" y="17945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{23BAC158-317E-4D87-98CF-88D778702FC5}</a:tableStyleId>
              </a:tblPr>
              <a:tblGrid>
                <a:gridCol w="2026900"/>
                <a:gridCol w="1578325"/>
                <a:gridCol w="2375900"/>
                <a:gridCol w="5067875"/>
              </a:tblGrid>
              <a:tr h="7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000000"/>
                          </a:solidFill>
                          <a:highlight>
                            <a:srgbClr val="DEFF9A"/>
                          </a:highlight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Port</a:t>
                      </a:r>
                      <a:endParaRPr b="0" sz="1650">
                        <a:solidFill>
                          <a:srgbClr val="000000"/>
                        </a:solidFill>
                        <a:highlight>
                          <a:srgbClr val="DEFF9A"/>
                        </a:highlight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25" marB="25425" marR="63525" marL="63525"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000000"/>
                          </a:solidFill>
                          <a:highlight>
                            <a:srgbClr val="DEFF9A"/>
                          </a:highlight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State</a:t>
                      </a:r>
                      <a:endParaRPr b="0" sz="1650">
                        <a:solidFill>
                          <a:srgbClr val="000000"/>
                        </a:solidFill>
                        <a:highlight>
                          <a:srgbClr val="DEFF9A"/>
                        </a:highlight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25" marB="25425" marR="63525" marL="63525"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000000"/>
                          </a:solidFill>
                          <a:highlight>
                            <a:srgbClr val="DEFF9A"/>
                          </a:highlight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Service</a:t>
                      </a:r>
                      <a:endParaRPr b="0" sz="1650">
                        <a:solidFill>
                          <a:srgbClr val="000000"/>
                        </a:solidFill>
                        <a:highlight>
                          <a:srgbClr val="DEFF9A"/>
                        </a:highlight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25" marB="25425" marR="63525" marL="63525"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000000"/>
                          </a:solidFill>
                          <a:highlight>
                            <a:srgbClr val="DEFF9A"/>
                          </a:highlight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Version / Analysis</a:t>
                      </a:r>
                      <a:endParaRPr b="0" sz="1650">
                        <a:solidFill>
                          <a:srgbClr val="000000"/>
                        </a:solidFill>
                        <a:highlight>
                          <a:srgbClr val="DEFF9A"/>
                        </a:highlight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25" marB="25425" marR="63525" marL="63525">
                    <a:solidFill>
                      <a:srgbClr val="DEFF9A"/>
                    </a:solidFill>
                  </a:tcPr>
                </a:tc>
              </a:tr>
              <a:tr h="7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23/tcp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Open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Telnet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Linux telnetd (Insecure admin)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1E293B"/>
                    </a:solidFill>
                  </a:tcPr>
                </a:tc>
              </a:tr>
              <a:tr h="7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25/tcp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Open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SMTP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Postfix smtpd (Mail delivery)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0F172A"/>
                    </a:solidFill>
                  </a:tcPr>
                </a:tc>
              </a:tr>
              <a:tr h="7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445/tcp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Open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Samba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smbd 3.X-4.X (File sharing)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1E293B"/>
                    </a:solidFill>
                  </a:tcPr>
                </a:tc>
              </a:tr>
              <a:tr h="7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5432/tcp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Open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PostgreSQL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v8.3.0 - 8.3.7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0F172A"/>
                    </a:solidFill>
                  </a:tcPr>
                </a:tc>
              </a:tr>
              <a:tr h="7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5900/tcp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Open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VNC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DAFFDE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Protocol 3.3 (Desktop sharing)</a:t>
                      </a:r>
                      <a:endParaRPr b="0" sz="1500">
                        <a:solidFill>
                          <a:srgbClr val="DAFFDE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25" marB="25425" marR="63525" marL="63525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16"/>
          <p:cNvSpPr/>
          <p:nvPr/>
        </p:nvSpPr>
        <p:spPr>
          <a:xfrm>
            <a:off x="571500" y="2505967"/>
            <a:ext cx="20268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2598390" y="2505967"/>
            <a:ext cx="15783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4176712" y="2505967"/>
            <a:ext cx="23760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552604" y="2505967"/>
            <a:ext cx="50679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71500" y="3201292"/>
            <a:ext cx="20268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2598390" y="3201292"/>
            <a:ext cx="15783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176712" y="3201292"/>
            <a:ext cx="23760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552604" y="3201292"/>
            <a:ext cx="50679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71500" y="3896617"/>
            <a:ext cx="20268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2598390" y="3896617"/>
            <a:ext cx="15783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4176712" y="3896617"/>
            <a:ext cx="23760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552604" y="3896617"/>
            <a:ext cx="50679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71500" y="4591942"/>
            <a:ext cx="20268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2598390" y="4591942"/>
            <a:ext cx="15783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4176712" y="4591942"/>
            <a:ext cx="23760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552604" y="4591942"/>
            <a:ext cx="50679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1500" y="5287267"/>
            <a:ext cx="20268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2598390" y="5287267"/>
            <a:ext cx="15783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176712" y="5287267"/>
            <a:ext cx="23760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552604" y="5287267"/>
            <a:ext cx="50679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71500" y="5982592"/>
            <a:ext cx="20268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598390" y="5982592"/>
            <a:ext cx="15783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4176712" y="5982592"/>
            <a:ext cx="23760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552604" y="5982592"/>
            <a:ext cx="50679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1.2 Service Mapping &amp; Port Analysis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743325"/>
            <a:ext cx="5143500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571500" y="3019425"/>
            <a:ext cx="5143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4448175"/>
            <a:ext cx="5143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Confirmed Breaches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096000" y="2724150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Automated Auditing (Hydra)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096000" y="2943225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Leveraged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fasttrack.txt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 identify weak default credentials across infrastructure services.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381750" y="40290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PostgreSQL: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postgres / postgres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381750" y="44767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Samba: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user / user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1.3 Successful Credential Attacks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1750"/>
            <a:ext cx="34924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571750"/>
            <a:ext cx="3492549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571750"/>
            <a:ext cx="34924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8575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857250" y="3571875"/>
            <a:ext cx="30669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Telnet Limits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57250" y="4019550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Default account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msfadmin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resisted brute-force, indicating non-standard password entropy.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400" y="28575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4635400" y="3571875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SMTP Auth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35400" y="4019550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Mail relay daemon returned 503 error; authentication extensions are explicitly disabled.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700" y="28575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8413700" y="3571875"/>
            <a:ext cx="30669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VNC Security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413700" y="4019550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Security mismatch detected (Result 2). Server dropped multi-threaded attempts.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8700" y="30289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21138" y="30289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85150" y="30289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Technical Constraints &amp; Hardening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276350"/>
            <a:ext cx="5238750" cy="523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285875"/>
            <a:ext cx="5219700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952500" y="127635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Credential Rotation: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Enforce 16+ character complexity for admin accounts.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52500" y="21240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Protocol Deprecation: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Disable Telnet/VNC; replace with SSH key-auth.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52500" y="297180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Network Firewalling: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Use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iptables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 restrict Port 5432 and 445 access.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52500" y="38195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SMTP Security: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Enable SASL auth and restrict anonymous relay capabilities.</a:t>
            </a:r>
            <a:endParaRPr/>
          </a:p>
        </p:txBody>
      </p:sp>
      <p:pic>
        <p:nvPicPr>
          <p:cNvPr descr="image.png" id="189" name="Google Shape;18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314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1621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8576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71500" y="3429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1.4 Proposed Security Improvements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81325"/>
            <a:ext cx="49530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571500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Task 2: Framework Exploitation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186690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vsFTPd 2.3.4 Backdoor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20859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Targeted a historic supply-chain backdoor (CVE-2011-2523) in the FTP daemon.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22860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857250" y="3267075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Vector: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unix/ftp/vsftpd_234_backdoor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57250" y="3714750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Trigger: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Username ending in ":)"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57250" y="4162425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Result: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Shell spawned on Port 6200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21"/>
          <p:cNvGrpSpPr/>
          <p:nvPr/>
        </p:nvGrpSpPr>
        <p:grpSpPr>
          <a:xfrm>
            <a:off x="1295400" y="2000250"/>
            <a:ext cx="3791100" cy="3791100"/>
            <a:chOff x="9525" y="9525"/>
            <a:chExt cx="3791100" cy="3791100"/>
          </a:xfrm>
        </p:grpSpPr>
        <p:pic>
          <p:nvPicPr>
            <p:cNvPr descr="A high-tech digital terminal screen showing lines of code and a &quot;Full System Takeover&quot; message in glowing green text, cyberpunk aesthetic, dark background, 8k resolution." id="212" name="Google Shape;212;p21"/>
            <p:cNvPicPr preferRelativeResize="0"/>
            <p:nvPr/>
          </p:nvPicPr>
          <p:blipFill rotWithShape="1">
            <a:blip r:embed="rId4">
              <a:alphaModFix/>
            </a:blip>
            <a:srcRect b="1248" l="1248" r="1248" t="1248"/>
            <a:stretch/>
          </p:blipFill>
          <p:spPr>
            <a:xfrm>
              <a:off x="47625" y="47625"/>
              <a:ext cx="3714900" cy="37149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13" name="Google Shape;213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25" y="9525"/>
              <a:ext cx="3791100" cy="3791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21"/>
          <p:cNvSpPr txBox="1"/>
          <p:nvPr/>
        </p:nvSpPr>
        <p:spPr>
          <a:xfrm>
            <a:off x="6381750" y="2819400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Full System Takeover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762750" y="3038475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Meterpreter Shell: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Upgraded raw shell to structured management.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762750" y="388620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UID: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root (Highest privileges achieved).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762750" y="4429125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Persistence: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Verified full read/write access to filesystem.</a:t>
            </a:r>
            <a:endParaRPr/>
          </a:p>
        </p:txBody>
      </p:sp>
      <p:pic>
        <p:nvPicPr>
          <p:cNvPr descr="image.png" id="218" name="Google Shape;21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0765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9243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46722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Post-Exploitation Control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